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solidFill>
                  <a:srgbClr val="1B2A4E"/>
                </a:solidFill>
                <a:latin typeface="Calibri"/>
              </a:rPr>
              <a:t>Screen understanding, unseen websites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5B6472"/>
              </a:solidFill>
            </c:spPr>
          </c:dPt>
          <c:dPt>
            <c:idx val="1"/>
            <c:spPr>
              <a:solidFill>
                <a:srgbClr val="1B2A4E"/>
              </a:solidFill>
            </c:spPr>
          </c:dPt>
          <c:cat>
            <c:strRef>
              <c:f>Sheet1!$A$2:$A$3</c:f>
              <c:strCache>
                <c:ptCount val="2"/>
                <c:pt idx="0">
                  <c:v>Pixels only (zero-shot ViT)</c:v>
                </c:pt>
                <c:pt idx="1">
                  <c:v>Pixels × DOM structure (ours)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0.391</c:v>
                </c:pt>
                <c:pt idx="1">
                  <c:v>0.54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0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CCCCC"/>
            </a:solidFill>
          </a:ln>
        </c:spPr>
        <c:txPr>
          <a:bodyPr/>
          <a:lstStyle/>
          <a:p>
            <a:pPr>
              <a:defRPr sz="9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solidFill>
                  <a:srgbClr val="1B2A4E"/>
                </a:solidFill>
                <a:latin typeface="Calibri"/>
              </a:rPr>
              <a:t>PII recall, Indian set (precision ≥ 0.98)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5B6472"/>
              </a:solidFill>
            </c:spPr>
          </c:dPt>
          <c:dPt>
            <c:idx val="1"/>
            <c:spPr>
              <a:solidFill>
                <a:srgbClr val="1B2A4E"/>
              </a:solidFill>
            </c:spPr>
          </c:dPt>
          <c:cat>
            <c:strRef>
              <c:f>Sheet1!$A$2:$A$3</c:f>
              <c:strCache>
                <c:ptCount val="2"/>
                <c:pt idx="0">
                  <c:v>Rules only</c:v>
                </c:pt>
                <c:pt idx="1">
                  <c:v>Rules + on-device NER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0.606</c:v>
                </c:pt>
                <c:pt idx="1">
                  <c:v>0.956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0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CCCCC"/>
            </a:solidFill>
          </a:ln>
        </c:spPr>
        <c:txPr>
          <a:bodyPr/>
          <a:lstStyle/>
          <a:p>
            <a:pPr>
              <a:defRPr sz="9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solidFill>
                  <a:srgbClr val="1B2A4E"/>
                </a:solidFill>
                <a:latin typeface="Calibri"/>
              </a:rPr>
              <a:t>Redaction on demo sites (pixels)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E87A1E"/>
              </a:solidFill>
            </c:spPr>
          </c:dPt>
          <c:dPt>
            <c:idx val="1"/>
            <c:spPr>
              <a:solidFill>
                <a:srgbClr val="E87A1E"/>
              </a:solidFill>
            </c:spPr>
          </c:dPt>
          <c:cat>
            <c:strRef>
              <c:f>Sheet1!$A$2:$A$3</c:f>
              <c:strCache>
                <c:ptCount val="2"/>
                <c:pt idx="0">
                  <c:v>Precision</c:v>
                </c:pt>
                <c:pt idx="1">
                  <c:v>Recall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0.913</c:v>
                </c:pt>
                <c:pt idx="1">
                  <c:v>0.997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0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CCCCC"/>
            </a:solidFill>
          </a:ln>
        </c:spPr>
        <c:txPr>
          <a:bodyPr/>
          <a:lstStyle/>
          <a:p>
            <a:pPr>
              <a:defRPr sz="9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chart" Target="../charts/chart1.xml"/><Relationship Id="rId5" Type="http://schemas.openxmlformats.org/officeDocument/2006/relationships/chart" Target="../charts/chart2.xml"/><Relationship Id="rId6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AAVARAN — a privacy veil for browser agents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5000"/>
              </a:lnSpc>
              <a:spcBef>
                <a:spcPts val="700"/>
              </a:spcBef>
            </a:pPr>
            <a:endParaRPr lang="en-US" dirty="0"/>
          </a:p>
          <a:p>
            <a:pPr marL="285750" indent="-285750" algn="l">
              <a:lnSpc>
                <a:spcPct val="105000"/>
              </a:lnSpc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26171</a:t>
            </a:r>
          </a:p>
          <a:p>
            <a:pPr marL="285750" indent="-285750" algn="l">
              <a:lnSpc>
                <a:spcPct val="105000"/>
              </a:lnSpc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 – On-device Visual Perception for Light-weight Browser Agents</a:t>
            </a:r>
          </a:p>
          <a:p>
            <a:pPr marL="285750" indent="-285750" algn="l">
              <a:lnSpc>
                <a:spcPct val="105000"/>
              </a:lnSpc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Theme – Smart Automation</a:t>
            </a:r>
          </a:p>
          <a:p>
            <a:pPr marL="285750" indent="-285750" algn="l">
              <a:lnSpc>
                <a:spcPct val="105000"/>
              </a:lnSpc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l">
              <a:lnSpc>
                <a:spcPct val="105000"/>
              </a:lnSpc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Team ID – &lt;Team ID&gt;</a:t>
            </a:r>
          </a:p>
          <a:p>
            <a:pPr marL="285750" indent="-285750" algn="l">
              <a:lnSpc>
                <a:spcPct val="105000"/>
              </a:lnSpc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 – &lt;Team name&gt;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AAVARAN — ON-DEVICE PRIVACY VEIL</a:t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Aavaran · SIH 2026 · PS 26171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&lt;Team name&gt;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TextBox 15361"/>
          <p:cNvSpPr txBox="1"/>
          <p:nvPr/>
        </p:nvSpPr>
        <p:spPr>
          <a:xfrm>
            <a:off x="411480" y="1188720"/>
            <a:ext cx="667512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400" b="1" i="0">
                <a:solidFill>
                  <a:srgbClr val="1B2A4E"/>
                </a:solidFill>
                <a:latin typeface="Cambria"/>
              </a:rPr>
              <a:t>Proposed solution</a:t>
            </a:r>
          </a:p>
        </p:txBody>
      </p:sp>
      <p:sp>
        <p:nvSpPr>
          <p:cNvPr id="15363" name="TextBox 15362"/>
          <p:cNvSpPr txBox="1"/>
          <p:nvPr/>
        </p:nvSpPr>
        <p:spPr>
          <a:xfrm>
            <a:off x="411480" y="1481328"/>
            <a:ext cx="6766560" cy="13258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marL="146304" indent="-128016">
              <a:spcAft>
                <a:spcPts val="300"/>
              </a:spcAft>
              <a:buChar char="•"/>
            </a:pPr>
            <a:r>
              <a:rPr sz="1150" b="1">
                <a:solidFill>
                  <a:srgbClr val="222833"/>
                </a:solidFill>
                <a:latin typeface="Calibri"/>
              </a:rPr>
              <a:t>Browser extension (Chrome, Edge, Brave, Firefox) + FastAPI server. </a:t>
            </a:r>
            <a:r>
              <a:rPr sz="1150" b="0">
                <a:solidFill>
                  <a:srgbClr val="222833"/>
                </a:solidFill>
                <a:latin typeface="Calibri"/>
              </a:rPr>
              <a:t>Three small models run in the browser (WebGPU → WASM) and read the screen: YuNet faces, MobileCLIP-S0 vision transformer, BERT-small PII NER (52 MB total).</a:t>
            </a:r>
          </a:p>
          <a:p>
            <a:pPr marL="146304" indent="-128016">
              <a:spcAft>
                <a:spcPts val="300"/>
              </a:spcAft>
              <a:buChar char="•"/>
            </a:pPr>
            <a:r>
              <a:rPr sz="1150" b="0">
                <a:solidFill>
                  <a:srgbClr val="222833"/>
                </a:solidFill>
                <a:latin typeface="Calibri"/>
              </a:rPr>
              <a:t>Before any request, </a:t>
            </a:r>
            <a:r>
              <a:rPr sz="1150" b="1">
                <a:solidFill>
                  <a:srgbClr val="222833"/>
                </a:solidFill>
                <a:latin typeface="Calibri"/>
              </a:rPr>
              <a:t>personal data is replaced by consistent tokens</a:t>
            </a:r>
            <a:r>
              <a:rPr sz="1150" b="0">
                <a:solidFill>
                  <a:srgbClr val="222833"/>
                </a:solidFill>
                <a:latin typeface="Calibri"/>
              </a:rPr>
              <a:t> ([NAME_1], [AADHAAR_1], [OTP_1]) and black-boxed at pixel level in the screenshot, with the same labels.</a:t>
            </a:r>
          </a:p>
          <a:p>
            <a:pPr marL="146304" indent="-128016">
              <a:spcAft>
                <a:spcPts val="300"/>
              </a:spcAft>
              <a:buChar char="•"/>
            </a:pPr>
            <a:r>
              <a:rPr sz="1150" b="0">
                <a:solidFill>
                  <a:srgbClr val="222833"/>
                </a:solidFill>
                <a:latin typeface="Calibri"/>
              </a:rPr>
              <a:t>An open-weights VLM on the server (Qwen2.5-VL / Llama-4 / Gemma-3) plans actions over tokens + numbered UI marks; the client swaps real values back in </a:t>
            </a:r>
            <a:r>
              <a:rPr sz="1150" b="1">
                <a:solidFill>
                  <a:srgbClr val="222833"/>
                </a:solidFill>
                <a:latin typeface="Calibri"/>
              </a:rPr>
              <a:t>on the device</a:t>
            </a:r>
            <a:r>
              <a:rPr sz="1150" b="0">
                <a:solidFill>
                  <a:srgbClr val="222833"/>
                </a:solidFill>
                <a:latin typeface="Calibri"/>
              </a:rPr>
              <a:t>.</a:t>
            </a:r>
          </a:p>
        </p:txBody>
      </p:sp>
      <p:sp>
        <p:nvSpPr>
          <p:cNvPr id="15364" name="TextBox 15363"/>
          <p:cNvSpPr txBox="1"/>
          <p:nvPr/>
        </p:nvSpPr>
        <p:spPr>
          <a:xfrm>
            <a:off x="411480" y="2852928"/>
            <a:ext cx="667512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400" b="1" i="0">
                <a:solidFill>
                  <a:srgbClr val="1B2A4E"/>
                </a:solidFill>
                <a:latin typeface="Cambria"/>
              </a:rPr>
              <a:t>How it addresses the problem</a:t>
            </a:r>
          </a:p>
        </p:txBody>
      </p:sp>
      <p:sp>
        <p:nvSpPr>
          <p:cNvPr id="15365" name="TextBox 15364"/>
          <p:cNvSpPr txBox="1"/>
          <p:nvPr/>
        </p:nvSpPr>
        <p:spPr>
          <a:xfrm>
            <a:off x="411480" y="3145536"/>
            <a:ext cx="6766560" cy="12344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marL="146304" indent="-128016">
              <a:spcAft>
                <a:spcPts val="300"/>
              </a:spcAft>
              <a:buChar char="•"/>
            </a:pPr>
            <a:r>
              <a:rPr sz="1150" b="0">
                <a:solidFill>
                  <a:srgbClr val="222833"/>
                </a:solidFill>
                <a:latin typeface="Calibri"/>
              </a:rPr>
              <a:t>Server-side agents can't be trusted with Aadhaar cards, OTPs, faces and bank pages; a local-only agent is too weak. Aavaran splits the work: perception + privacy local, reasoning remote.</a:t>
            </a:r>
          </a:p>
          <a:p>
            <a:pPr marL="146304" indent="-128016">
              <a:spcAft>
                <a:spcPts val="300"/>
              </a:spcAft>
              <a:buChar char="•"/>
            </a:pPr>
            <a:r>
              <a:rPr sz="1150" b="0">
                <a:solidFill>
                  <a:srgbClr val="222833"/>
                </a:solidFill>
                <a:latin typeface="Calibri"/>
              </a:rPr>
              <a:t>Redaction is </a:t>
            </a:r>
            <a:r>
              <a:rPr sz="1150" b="1">
                <a:solidFill>
                  <a:srgbClr val="222833"/>
                </a:solidFill>
                <a:latin typeface="Calibri"/>
              </a:rPr>
              <a:t>verifiable</a:t>
            </a:r>
            <a:r>
              <a:rPr sz="1150" b="0">
                <a:solidFill>
                  <a:srgbClr val="222833"/>
                </a:solidFill>
                <a:latin typeface="Calibri"/>
              </a:rPr>
              <a:t>: a Privacy X-ray shows the exact frame and tokens that leave; the server's own audit log is checked after every task — </a:t>
            </a:r>
            <a:r>
              <a:rPr sz="1150" b="1">
                <a:solidFill>
                  <a:srgbClr val="138808"/>
                </a:solidFill>
                <a:latin typeface="Calibri"/>
              </a:rPr>
              <a:t>0 leaks</a:t>
            </a:r>
            <a:r>
              <a:rPr sz="1150" b="0">
                <a:solidFill>
                  <a:srgbClr val="222833"/>
                </a:solidFill>
                <a:latin typeface="Calibri"/>
              </a:rPr>
              <a:t> in 5 end-to-end tasks.</a:t>
            </a:r>
          </a:p>
        </p:txBody>
      </p:sp>
      <p:sp>
        <p:nvSpPr>
          <p:cNvPr id="15366" name="TextBox 15365"/>
          <p:cNvSpPr txBox="1"/>
          <p:nvPr/>
        </p:nvSpPr>
        <p:spPr>
          <a:xfrm>
            <a:off x="411480" y="4407408"/>
            <a:ext cx="667512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400" b="1" i="0">
                <a:solidFill>
                  <a:srgbClr val="1B2A4E"/>
                </a:solidFill>
                <a:latin typeface="Cambria"/>
              </a:rPr>
              <a:t>Innovation &amp; uniqueness</a:t>
            </a:r>
          </a:p>
        </p:txBody>
      </p:sp>
      <p:sp>
        <p:nvSpPr>
          <p:cNvPr id="15367" name="TextBox 15366"/>
          <p:cNvSpPr txBox="1"/>
          <p:nvPr/>
        </p:nvSpPr>
        <p:spPr>
          <a:xfrm>
            <a:off x="411480" y="4700016"/>
            <a:ext cx="6766560" cy="16002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marL="146304" indent="-128016">
              <a:spcAft>
                <a:spcPts val="300"/>
              </a:spcAft>
              <a:buChar char="•"/>
            </a:pPr>
            <a:r>
              <a:rPr sz="1150" b="1">
                <a:solidFill>
                  <a:srgbClr val="222833"/>
                </a:solidFill>
                <a:latin typeface="Calibri"/>
              </a:rPr>
              <a:t>DOM-grounded pixel redaction: </a:t>
            </a:r>
            <a:r>
              <a:rPr sz="1150" b="0">
                <a:solidFill>
                  <a:srgbClr val="222833"/>
                </a:solidFill>
                <a:latin typeface="Calibri"/>
              </a:rPr>
              <a:t>PII found in text is mapped to exact screen rectangles (Range.getClientRects) — no OCR guessing; vision covers pixels the DOM can't describe (faces, ID-card photos, signatures).</a:t>
            </a:r>
          </a:p>
          <a:p>
            <a:pPr marL="146304" indent="-128016">
              <a:spcAft>
                <a:spcPts val="300"/>
              </a:spcAft>
              <a:buChar char="•"/>
            </a:pPr>
            <a:r>
              <a:rPr sz="1150" b="1">
                <a:solidFill>
                  <a:srgbClr val="222833"/>
                </a:solidFill>
                <a:latin typeface="Calibri"/>
              </a:rPr>
              <a:t>Reversible pseudonym vault: </a:t>
            </a:r>
            <a:r>
              <a:rPr sz="1150" b="0">
                <a:solidFill>
                  <a:srgbClr val="222833"/>
                </a:solidFill>
                <a:latin typeface="Calibri"/>
              </a:rPr>
              <a:t>the agent can fill your form with your details without ever seeing them.</a:t>
            </a:r>
          </a:p>
          <a:p>
            <a:pPr marL="146304" indent="-128016">
              <a:spcAft>
                <a:spcPts val="300"/>
              </a:spcAft>
              <a:buChar char="•"/>
            </a:pPr>
            <a:r>
              <a:rPr sz="1150" b="1">
                <a:solidFill>
                  <a:srgbClr val="222833"/>
                </a:solidFill>
                <a:latin typeface="Calibri"/>
              </a:rPr>
              <a:t>Pixels × structure: </a:t>
            </a:r>
            <a:r>
              <a:rPr sz="1150" b="0">
                <a:solidFill>
                  <a:srgbClr val="222833"/>
                </a:solidFill>
                <a:latin typeface="Calibri"/>
              </a:rPr>
              <a:t>a ViT fused with DOM structure understands unseen websites 54.0% vs 39.1% from pixels alone.</a:t>
            </a:r>
          </a:p>
          <a:p>
            <a:pPr marL="146304" indent="-128016">
              <a:spcAft>
                <a:spcPts val="300"/>
              </a:spcAft>
              <a:buChar char="•"/>
            </a:pPr>
            <a:r>
              <a:rPr sz="1150" b="1">
                <a:solidFill>
                  <a:srgbClr val="222833"/>
                </a:solidFill>
                <a:latin typeface="Calibri"/>
              </a:rPr>
              <a:t>India-first PII: </a:t>
            </a:r>
            <a:r>
              <a:rPr sz="1150" b="0">
                <a:solidFill>
                  <a:srgbClr val="222833"/>
                </a:solidFill>
                <a:latin typeface="Calibri"/>
              </a:rPr>
              <a:t>Aadhaar (Verhoeff), PAN, GSTIN (mod-36), UPI, IFSC-context accounts, OTPs.</a:t>
            </a:r>
          </a:p>
        </p:txBody>
      </p:sp>
      <p:pic>
        <p:nvPicPr>
          <p:cNvPr id="15368" name="Picture 15367" descr="kyc_original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1207008"/>
            <a:ext cx="3520440" cy="2200275"/>
          </a:xfrm>
          <a:prstGeom prst="rect">
            <a:avLst/>
          </a:prstGeom>
        </p:spPr>
      </p:pic>
      <p:sp>
        <p:nvSpPr>
          <p:cNvPr id="15369" name="TextBox 15368"/>
          <p:cNvSpPr txBox="1"/>
          <p:nvPr/>
        </p:nvSpPr>
        <p:spPr>
          <a:xfrm>
            <a:off x="8275320" y="3416427"/>
            <a:ext cx="352044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000" b="1" i="0">
                <a:solidFill>
                  <a:srgbClr val="5B6472"/>
                </a:solidFill>
                <a:latin typeface="Calibri"/>
              </a:rPr>
              <a:t>What the user sees</a:t>
            </a:r>
          </a:p>
        </p:txBody>
      </p:sp>
      <p:pic>
        <p:nvPicPr>
          <p:cNvPr id="15370" name="Picture 15369" descr="kyc_server_view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5320" y="3736467"/>
            <a:ext cx="3520440" cy="2200275"/>
          </a:xfrm>
          <a:prstGeom prst="rect">
            <a:avLst/>
          </a:prstGeom>
        </p:spPr>
      </p:pic>
      <p:sp>
        <p:nvSpPr>
          <p:cNvPr id="15371" name="TextBox 15370"/>
          <p:cNvSpPr txBox="1"/>
          <p:nvPr/>
        </p:nvSpPr>
        <p:spPr>
          <a:xfrm>
            <a:off x="8275320" y="5945886"/>
            <a:ext cx="352044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000" b="1" i="0">
                <a:solidFill>
                  <a:srgbClr val="E87A1E"/>
                </a:solidFill>
                <a:latin typeface="Calibri"/>
              </a:rPr>
              <a:t>What the server receives — redacted on the device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Aavaran · SIH 2026 · PS 26171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&lt;Team name&gt;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411480" y="1234440"/>
            <a:ext cx="1737360" cy="141732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1" name="Oval 17410"/>
          <p:cNvSpPr/>
          <p:nvPr/>
        </p:nvSpPr>
        <p:spPr>
          <a:xfrm>
            <a:off x="484632" y="1307592"/>
            <a:ext cx="310896" cy="310896"/>
          </a:xfrm>
          <a:prstGeom prst="ellipse">
            <a:avLst/>
          </a:prstGeom>
          <a:solidFill>
            <a:srgbClr val="1B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832104" y="1307592"/>
            <a:ext cx="128016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1B2A4E"/>
                </a:solidFill>
                <a:latin typeface="Calibri"/>
              </a:rPr>
              <a:t>Screen + DOM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484632" y="1691640"/>
            <a:ext cx="1609343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222833"/>
                </a:solidFill>
                <a:latin typeface="Calibri"/>
              </a:rPr>
              <a:t>tokenise task first;</a:t>
            </a:r>
          </a:p>
          <a:p>
            <a:pPr algn="l"/>
            <a:r>
              <a:rPr sz="950" b="0" i="0">
                <a:solidFill>
                  <a:srgbClr val="222833"/>
                </a:solidFill>
                <a:latin typeface="Calibri"/>
              </a:rPr>
              <a:t>visible text, fields,</a:t>
            </a:r>
          </a:p>
          <a:p>
            <a:pPr algn="l"/>
            <a:r>
              <a:rPr sz="950" b="0" i="0">
                <a:solidFill>
                  <a:srgbClr val="222833"/>
                </a:solidFill>
                <a:latin typeface="Calibri"/>
              </a:rPr>
              <a:t>images, UI elements</a:t>
            </a:r>
          </a:p>
        </p:txBody>
      </p:sp>
      <p:cxnSp>
        <p:nvCxnSpPr>
          <p:cNvPr id="17414" name="Connector 17413"/>
          <p:cNvCxnSpPr/>
          <p:nvPr/>
        </p:nvCxnSpPr>
        <p:spPr>
          <a:xfrm>
            <a:off x="2157984" y="1947672"/>
            <a:ext cx="182880" cy="0"/>
          </a:xfrm>
          <a:prstGeom prst="line">
            <a:avLst/>
          </a:prstGeom>
          <a:ln w="22225">
            <a:solidFill>
              <a:srgbClr val="5B64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5" name="Rounded Rectangle 17414"/>
          <p:cNvSpPr/>
          <p:nvPr/>
        </p:nvSpPr>
        <p:spPr>
          <a:xfrm>
            <a:off x="2350008" y="1234440"/>
            <a:ext cx="1737360" cy="141732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6" name="Oval 17415"/>
          <p:cNvSpPr/>
          <p:nvPr/>
        </p:nvSpPr>
        <p:spPr>
          <a:xfrm>
            <a:off x="2423160" y="1307592"/>
            <a:ext cx="310896" cy="310896"/>
          </a:xfrm>
          <a:prstGeom prst="ellipse">
            <a:avLst/>
          </a:prstGeom>
          <a:solidFill>
            <a:srgbClr val="1B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2770632" y="1307592"/>
            <a:ext cx="128016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1B2A4E"/>
                </a:solidFill>
                <a:latin typeface="Calibri"/>
              </a:rPr>
              <a:t>On-device perception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2423160" y="1691640"/>
            <a:ext cx="1609343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222833"/>
                </a:solidFill>
                <a:latin typeface="Calibri"/>
              </a:rPr>
              <a:t>YuNet · MobileCLIP-S0</a:t>
            </a:r>
          </a:p>
          <a:p>
            <a:pPr algn="l"/>
            <a:r>
              <a:rPr sz="950" b="0" i="0">
                <a:solidFill>
                  <a:srgbClr val="222833"/>
                </a:solidFill>
                <a:latin typeface="Calibri"/>
              </a:rPr>
              <a:t>· BERT-small NER</a:t>
            </a:r>
          </a:p>
          <a:p>
            <a:pPr algn="l"/>
            <a:r>
              <a:rPr sz="950" b="0" i="0">
                <a:solidFill>
                  <a:srgbClr val="222833"/>
                </a:solidFill>
                <a:latin typeface="Calibri"/>
              </a:rPr>
              <a:t>(ONNX Runtime Web)</a:t>
            </a:r>
          </a:p>
        </p:txBody>
      </p:sp>
      <p:cxnSp>
        <p:nvCxnSpPr>
          <p:cNvPr id="17419" name="Connector 17418"/>
          <p:cNvCxnSpPr/>
          <p:nvPr/>
        </p:nvCxnSpPr>
        <p:spPr>
          <a:xfrm>
            <a:off x="4096512" y="1947672"/>
            <a:ext cx="182880" cy="0"/>
          </a:xfrm>
          <a:prstGeom prst="line">
            <a:avLst/>
          </a:prstGeom>
          <a:ln w="22225">
            <a:solidFill>
              <a:srgbClr val="5B64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0" name="Rounded Rectangle 17419"/>
          <p:cNvSpPr/>
          <p:nvPr/>
        </p:nvSpPr>
        <p:spPr>
          <a:xfrm>
            <a:off x="4288536" y="1234440"/>
            <a:ext cx="1737360" cy="141732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1" name="Oval 17420"/>
          <p:cNvSpPr/>
          <p:nvPr/>
        </p:nvSpPr>
        <p:spPr>
          <a:xfrm>
            <a:off x="4361688" y="1307592"/>
            <a:ext cx="310896" cy="310896"/>
          </a:xfrm>
          <a:prstGeom prst="ellipse">
            <a:avLst/>
          </a:prstGeom>
          <a:solidFill>
            <a:srgbClr val="1B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4709160" y="1307592"/>
            <a:ext cx="128016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1B2A4E"/>
                </a:solidFill>
                <a:latin typeface="Calibri"/>
              </a:rPr>
              <a:t>Redact &amp; tokenise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4361688" y="1691640"/>
            <a:ext cx="1609343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222833"/>
                </a:solidFill>
                <a:latin typeface="Calibri"/>
              </a:rPr>
              <a:t>pixel-exact black boxes</a:t>
            </a:r>
          </a:p>
          <a:p>
            <a:pPr algn="l"/>
            <a:r>
              <a:rPr sz="950" b="0" i="0">
                <a:solidFill>
                  <a:srgbClr val="222833"/>
                </a:solidFill>
                <a:latin typeface="Calibri"/>
              </a:rPr>
              <a:t>same tokens in text</a:t>
            </a:r>
          </a:p>
          <a:p>
            <a:pPr algn="l"/>
            <a:r>
              <a:rPr sz="950" b="0" i="0">
                <a:solidFill>
                  <a:srgbClr val="222833"/>
                </a:solidFill>
                <a:latin typeface="Calibri"/>
              </a:rPr>
              <a:t>and image · Vault</a:t>
            </a:r>
          </a:p>
        </p:txBody>
      </p:sp>
      <p:cxnSp>
        <p:nvCxnSpPr>
          <p:cNvPr id="17424" name="Connector 17423"/>
          <p:cNvCxnSpPr/>
          <p:nvPr/>
        </p:nvCxnSpPr>
        <p:spPr>
          <a:xfrm>
            <a:off x="6035040" y="1947672"/>
            <a:ext cx="182880" cy="0"/>
          </a:xfrm>
          <a:prstGeom prst="line">
            <a:avLst/>
          </a:prstGeom>
          <a:ln w="22225">
            <a:solidFill>
              <a:srgbClr val="5B64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5" name="Rounded Rectangle 17424"/>
          <p:cNvSpPr/>
          <p:nvPr/>
        </p:nvSpPr>
        <p:spPr>
          <a:xfrm>
            <a:off x="6227064" y="1234440"/>
            <a:ext cx="1737360" cy="141732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6" name="Oval 17425"/>
          <p:cNvSpPr/>
          <p:nvPr/>
        </p:nvSpPr>
        <p:spPr>
          <a:xfrm>
            <a:off x="6300216" y="1307592"/>
            <a:ext cx="310896" cy="310896"/>
          </a:xfrm>
          <a:prstGeom prst="ellipse">
            <a:avLst/>
          </a:prstGeom>
          <a:solidFill>
            <a:srgbClr val="1B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6647688" y="1307592"/>
            <a:ext cx="128016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1B2A4E"/>
                </a:solidFill>
                <a:latin typeface="Calibri"/>
              </a:rPr>
              <a:t>Egress gate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6300216" y="1691640"/>
            <a:ext cx="1609343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222833"/>
                </a:solidFill>
                <a:latin typeface="Calibri"/>
              </a:rPr>
              <a:t>fail-closed re-check of</a:t>
            </a:r>
          </a:p>
          <a:p>
            <a:pPr algn="l"/>
            <a:r>
              <a:rPr sz="950" b="0" i="0">
                <a:solidFill>
                  <a:srgbClr val="222833"/>
                </a:solidFill>
                <a:latin typeface="Calibri"/>
              </a:rPr>
              <a:t>every outgoing string</a:t>
            </a:r>
          </a:p>
          <a:p>
            <a:pPr algn="l"/>
            <a:r>
              <a:rPr sz="950" b="0" i="0">
                <a:solidFill>
                  <a:srgbClr val="222833"/>
                </a:solidFill>
                <a:latin typeface="Calibri"/>
              </a:rPr>
              <a:t>(no image if tab moved)</a:t>
            </a:r>
          </a:p>
        </p:txBody>
      </p:sp>
      <p:cxnSp>
        <p:nvCxnSpPr>
          <p:cNvPr id="17429" name="Connector 17428"/>
          <p:cNvCxnSpPr/>
          <p:nvPr/>
        </p:nvCxnSpPr>
        <p:spPr>
          <a:xfrm>
            <a:off x="7973568" y="1947672"/>
            <a:ext cx="182880" cy="0"/>
          </a:xfrm>
          <a:prstGeom prst="line">
            <a:avLst/>
          </a:prstGeom>
          <a:ln w="22225">
            <a:solidFill>
              <a:srgbClr val="5B64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0" name="Rounded Rectangle 17429"/>
          <p:cNvSpPr/>
          <p:nvPr/>
        </p:nvSpPr>
        <p:spPr>
          <a:xfrm>
            <a:off x="8165592" y="1234440"/>
            <a:ext cx="1737360" cy="1417320"/>
          </a:xfrm>
          <a:prstGeom prst="roundRect">
            <a:avLst>
              <a:gd name="adj" fmla="val 8000"/>
            </a:avLst>
          </a:prstGeom>
          <a:solidFill>
            <a:srgbClr val="FD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1" name="Oval 17430"/>
          <p:cNvSpPr/>
          <p:nvPr/>
        </p:nvSpPr>
        <p:spPr>
          <a:xfrm>
            <a:off x="8238744" y="1307592"/>
            <a:ext cx="310896" cy="310896"/>
          </a:xfrm>
          <a:prstGeom prst="ellipse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8586216" y="1307592"/>
            <a:ext cx="128016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E87A1E"/>
                </a:solidFill>
                <a:latin typeface="Calibri"/>
              </a:rPr>
              <a:t>Open-weights VLM</a:t>
            </a:r>
          </a:p>
        </p:txBody>
      </p:sp>
      <p:sp>
        <p:nvSpPr>
          <p:cNvPr id="17433" name="TextBox 17432"/>
          <p:cNvSpPr txBox="1"/>
          <p:nvPr/>
        </p:nvSpPr>
        <p:spPr>
          <a:xfrm>
            <a:off x="8238744" y="1691640"/>
            <a:ext cx="1609343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222833"/>
                </a:solidFill>
                <a:latin typeface="Calibri"/>
              </a:rPr>
              <a:t>server re-checks; reasons</a:t>
            </a:r>
          </a:p>
          <a:p>
            <a:pPr algn="l"/>
            <a:r>
              <a:rPr sz="950" b="0" i="0">
                <a:solidFill>
                  <a:srgbClr val="222833"/>
                </a:solidFill>
                <a:latin typeface="Calibri"/>
              </a:rPr>
              <a:t>over tokens + Set-of-</a:t>
            </a:r>
          </a:p>
          <a:p>
            <a:pPr algn="l"/>
            <a:r>
              <a:rPr sz="950" b="0" i="0">
                <a:solidFill>
                  <a:srgbClr val="222833"/>
                </a:solidFill>
                <a:latin typeface="Calibri"/>
              </a:rPr>
              <a:t>Marks screenshot</a:t>
            </a:r>
          </a:p>
        </p:txBody>
      </p:sp>
      <p:cxnSp>
        <p:nvCxnSpPr>
          <p:cNvPr id="17434" name="Connector 17433"/>
          <p:cNvCxnSpPr/>
          <p:nvPr/>
        </p:nvCxnSpPr>
        <p:spPr>
          <a:xfrm>
            <a:off x="9912096" y="1947672"/>
            <a:ext cx="182880" cy="0"/>
          </a:xfrm>
          <a:prstGeom prst="line">
            <a:avLst/>
          </a:prstGeom>
          <a:ln w="22225">
            <a:solidFill>
              <a:srgbClr val="5B64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5" name="Rounded Rectangle 17434"/>
          <p:cNvSpPr/>
          <p:nvPr/>
        </p:nvSpPr>
        <p:spPr>
          <a:xfrm>
            <a:off x="10104120" y="1234440"/>
            <a:ext cx="1737360" cy="141732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6" name="Oval 17435"/>
          <p:cNvSpPr/>
          <p:nvPr/>
        </p:nvSpPr>
        <p:spPr>
          <a:xfrm>
            <a:off x="10177272" y="1307592"/>
            <a:ext cx="310896" cy="310896"/>
          </a:xfrm>
          <a:prstGeom prst="ellipse">
            <a:avLst/>
          </a:prstGeom>
          <a:solidFill>
            <a:srgbClr val="1B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7437" name="TextBox 17436"/>
          <p:cNvSpPr txBox="1"/>
          <p:nvPr/>
        </p:nvSpPr>
        <p:spPr>
          <a:xfrm>
            <a:off x="10524744" y="1307592"/>
            <a:ext cx="128016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1B2A4E"/>
                </a:solidFill>
                <a:latin typeface="Calibri"/>
              </a:rPr>
              <a:t>Act on device</a:t>
            </a:r>
          </a:p>
        </p:txBody>
      </p:sp>
      <p:sp>
        <p:nvSpPr>
          <p:cNvPr id="17438" name="TextBox 17437"/>
          <p:cNvSpPr txBox="1"/>
          <p:nvPr/>
        </p:nvSpPr>
        <p:spPr>
          <a:xfrm>
            <a:off x="10177272" y="1691640"/>
            <a:ext cx="1609343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222833"/>
                </a:solidFill>
                <a:latin typeface="Calibri"/>
              </a:rPr>
              <a:t>tokens → real values</a:t>
            </a:r>
          </a:p>
          <a:p>
            <a:pPr algn="l"/>
            <a:r>
              <a:rPr sz="950" b="0" i="0">
                <a:solidFill>
                  <a:srgbClr val="222833"/>
                </a:solidFill>
                <a:latin typeface="Calibri"/>
              </a:rPr>
              <a:t>locally; direct DOM</a:t>
            </a:r>
          </a:p>
          <a:p>
            <a:pPr algn="l"/>
            <a:r>
              <a:rPr sz="950" b="0" i="0">
                <a:solidFill>
                  <a:srgbClr val="222833"/>
                </a:solidFill>
                <a:latin typeface="Calibri"/>
              </a:rPr>
              <a:t>events; loop</a:t>
            </a:r>
          </a:p>
        </p:txBody>
      </p:sp>
      <p:sp>
        <p:nvSpPr>
          <p:cNvPr id="17439" name="TextBox 17438"/>
          <p:cNvSpPr txBox="1"/>
          <p:nvPr/>
        </p:nvSpPr>
        <p:spPr>
          <a:xfrm>
            <a:off x="411480" y="2697480"/>
            <a:ext cx="758952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950" b="0" i="1">
                <a:solidFill>
                  <a:srgbClr val="1B2A4E"/>
                </a:solidFill>
                <a:latin typeface="Calibri"/>
              </a:rPr>
              <a:t>user's browser — raw pixels and values never leave the device</a:t>
            </a:r>
          </a:p>
        </p:txBody>
      </p:sp>
      <p:sp>
        <p:nvSpPr>
          <p:cNvPr id="17440" name="TextBox 17439"/>
          <p:cNvSpPr txBox="1"/>
          <p:nvPr/>
        </p:nvSpPr>
        <p:spPr>
          <a:xfrm>
            <a:off x="8165592" y="2697480"/>
            <a:ext cx="173736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950" b="0" i="1">
                <a:solidFill>
                  <a:srgbClr val="E87A1E"/>
                </a:solidFill>
                <a:latin typeface="Calibri"/>
              </a:rPr>
              <a:t>server</a:t>
            </a:r>
          </a:p>
        </p:txBody>
      </p:sp>
      <p:sp>
        <p:nvSpPr>
          <p:cNvPr id="17441" name="TextBox 17440"/>
          <p:cNvSpPr txBox="1"/>
          <p:nvPr/>
        </p:nvSpPr>
        <p:spPr>
          <a:xfrm>
            <a:off x="411480" y="3063240"/>
            <a:ext cx="530352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400" b="1" i="0">
                <a:solidFill>
                  <a:srgbClr val="1B2A4E"/>
                </a:solidFill>
                <a:latin typeface="Cambria"/>
              </a:rPr>
              <a:t>Technologies</a:t>
            </a:r>
          </a:p>
        </p:txBody>
      </p:sp>
      <p:sp>
        <p:nvSpPr>
          <p:cNvPr id="17442" name="Rounded Rectangle 17441"/>
          <p:cNvSpPr/>
          <p:nvPr/>
        </p:nvSpPr>
        <p:spPr>
          <a:xfrm>
            <a:off x="411480" y="3383280"/>
            <a:ext cx="1234440" cy="512064"/>
          </a:xfrm>
          <a:prstGeom prst="roundRect">
            <a:avLst>
              <a:gd name="adj" fmla="val 8000"/>
            </a:avLst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3" name="TextBox 17442"/>
          <p:cNvSpPr txBox="1"/>
          <p:nvPr/>
        </p:nvSpPr>
        <p:spPr>
          <a:xfrm>
            <a:off x="411480" y="3383280"/>
            <a:ext cx="1234440" cy="5120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Client</a:t>
            </a:r>
          </a:p>
        </p:txBody>
      </p:sp>
      <p:sp>
        <p:nvSpPr>
          <p:cNvPr id="17444" name="TextBox 17443"/>
          <p:cNvSpPr txBox="1"/>
          <p:nvPr/>
        </p:nvSpPr>
        <p:spPr>
          <a:xfrm>
            <a:off x="1737360" y="3383280"/>
            <a:ext cx="4069080" cy="5120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222833"/>
                </a:solidFill>
                <a:latin typeface="Calibri"/>
              </a:rPr>
              <a:t>Manifest V3 extension, JavaScript, esbuild; Chrome/Edge/Brave + Firefox from one source</a:t>
            </a:r>
          </a:p>
        </p:txBody>
      </p:sp>
      <p:sp>
        <p:nvSpPr>
          <p:cNvPr id="17445" name="Rounded Rectangle 17444"/>
          <p:cNvSpPr/>
          <p:nvPr/>
        </p:nvSpPr>
        <p:spPr>
          <a:xfrm>
            <a:off x="411480" y="3959352"/>
            <a:ext cx="1234440" cy="512064"/>
          </a:xfrm>
          <a:prstGeom prst="roundRect">
            <a:avLst>
              <a:gd name="adj" fmla="val 8000"/>
            </a:avLst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6" name="TextBox 17445"/>
          <p:cNvSpPr txBox="1"/>
          <p:nvPr/>
        </p:nvSpPr>
        <p:spPr>
          <a:xfrm>
            <a:off x="411480" y="3959352"/>
            <a:ext cx="1234440" cy="5120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On-device ML</a:t>
            </a:r>
          </a:p>
        </p:txBody>
      </p:sp>
      <p:sp>
        <p:nvSpPr>
          <p:cNvPr id="17447" name="TextBox 17446"/>
          <p:cNvSpPr txBox="1"/>
          <p:nvPr/>
        </p:nvSpPr>
        <p:spPr>
          <a:xfrm>
            <a:off x="1737360" y="3959352"/>
            <a:ext cx="4069080" cy="5120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222833"/>
                </a:solidFill>
                <a:latin typeface="Calibri"/>
              </a:rPr>
              <a:t>ONNX Runtime Web — WebGPU, multi-threaded WASM SIMD (cross-origin isolated); offscreen document hosts all models once</a:t>
            </a:r>
          </a:p>
        </p:txBody>
      </p:sp>
      <p:sp>
        <p:nvSpPr>
          <p:cNvPr id="17448" name="Rounded Rectangle 17447"/>
          <p:cNvSpPr/>
          <p:nvPr/>
        </p:nvSpPr>
        <p:spPr>
          <a:xfrm>
            <a:off x="411480" y="4535424"/>
            <a:ext cx="1234440" cy="512064"/>
          </a:xfrm>
          <a:prstGeom prst="roundRect">
            <a:avLst>
              <a:gd name="adj" fmla="val 8000"/>
            </a:avLst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9" name="TextBox 17448"/>
          <p:cNvSpPr txBox="1"/>
          <p:nvPr/>
        </p:nvSpPr>
        <p:spPr>
          <a:xfrm>
            <a:off x="411480" y="4535424"/>
            <a:ext cx="1234440" cy="5120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Models</a:t>
            </a:r>
          </a:p>
        </p:txBody>
      </p:sp>
      <p:sp>
        <p:nvSpPr>
          <p:cNvPr id="17450" name="TextBox 17449"/>
          <p:cNvSpPr txBox="1"/>
          <p:nvPr/>
        </p:nvSpPr>
        <p:spPr>
          <a:xfrm>
            <a:off x="1737360" y="4535424"/>
            <a:ext cx="4069080" cy="5120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222833"/>
                </a:solidFill>
                <a:latin typeface="Calibri"/>
              </a:rPr>
              <a:t>YuNet FP32 0.2 MB · MobileCLIP-S0 image tower FP16 22.9 MB (prompt embeddings precomputed) · BERT-small PII INT8 28.7 MB</a:t>
            </a:r>
          </a:p>
        </p:txBody>
      </p:sp>
      <p:sp>
        <p:nvSpPr>
          <p:cNvPr id="17451" name="Rounded Rectangle 17450"/>
          <p:cNvSpPr/>
          <p:nvPr/>
        </p:nvSpPr>
        <p:spPr>
          <a:xfrm>
            <a:off x="411480" y="5111496"/>
            <a:ext cx="1234440" cy="512064"/>
          </a:xfrm>
          <a:prstGeom prst="roundRect">
            <a:avLst>
              <a:gd name="adj" fmla="val 8000"/>
            </a:avLst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2" name="TextBox 17451"/>
          <p:cNvSpPr txBox="1"/>
          <p:nvPr/>
        </p:nvSpPr>
        <p:spPr>
          <a:xfrm>
            <a:off x="411480" y="5111496"/>
            <a:ext cx="1234440" cy="5120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Server</a:t>
            </a:r>
          </a:p>
        </p:txBody>
      </p:sp>
      <p:sp>
        <p:nvSpPr>
          <p:cNvPr id="17453" name="TextBox 17452"/>
          <p:cNvSpPr txBox="1"/>
          <p:nvPr/>
        </p:nvSpPr>
        <p:spPr>
          <a:xfrm>
            <a:off x="1737360" y="5111496"/>
            <a:ext cx="4069080" cy="5120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222833"/>
                </a:solidFill>
                <a:latin typeface="Calibri"/>
              </a:rPr>
              <a:t>Python FastAPI; OpenAI-compatible open-weights VLM (vLLM / Ollama): Qwen2.5-VL-7B, Llama-4-Scout, Gemma-3</a:t>
            </a:r>
          </a:p>
        </p:txBody>
      </p:sp>
      <p:sp>
        <p:nvSpPr>
          <p:cNvPr id="17454" name="Rounded Rectangle 17453"/>
          <p:cNvSpPr/>
          <p:nvPr/>
        </p:nvSpPr>
        <p:spPr>
          <a:xfrm>
            <a:off x="411480" y="5687568"/>
            <a:ext cx="1234440" cy="512064"/>
          </a:xfrm>
          <a:prstGeom prst="roundRect">
            <a:avLst>
              <a:gd name="adj" fmla="val 8000"/>
            </a:avLst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5" name="TextBox 17454"/>
          <p:cNvSpPr txBox="1"/>
          <p:nvPr/>
        </p:nvSpPr>
        <p:spPr>
          <a:xfrm>
            <a:off x="411480" y="5687568"/>
            <a:ext cx="1234440" cy="5120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Evaluation</a:t>
            </a:r>
          </a:p>
        </p:txBody>
      </p:sp>
      <p:sp>
        <p:nvSpPr>
          <p:cNvPr id="17456" name="TextBox 17455"/>
          <p:cNvSpPr txBox="1"/>
          <p:nvPr/>
        </p:nvSpPr>
        <p:spPr>
          <a:xfrm>
            <a:off x="1737360" y="5687568"/>
            <a:ext cx="4069080" cy="5120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222833"/>
                </a:solidFill>
                <a:latin typeface="Calibri"/>
              </a:rPr>
              <a:t>Puppeteer + real Chrome, onnxruntime-node; WIDER FACE, ai4privacy, 217-screen web set</a:t>
            </a:r>
          </a:p>
        </p:txBody>
      </p:sp>
      <p:sp>
        <p:nvSpPr>
          <p:cNvPr id="17457" name="TextBox 17456"/>
          <p:cNvSpPr txBox="1"/>
          <p:nvPr/>
        </p:nvSpPr>
        <p:spPr>
          <a:xfrm>
            <a:off x="6172200" y="3063240"/>
            <a:ext cx="557784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400" b="1" i="0">
                <a:solidFill>
                  <a:srgbClr val="1B2A4E"/>
                </a:solidFill>
                <a:latin typeface="Cambria"/>
              </a:rPr>
              <a:t>Methodology (built and measured)</a:t>
            </a:r>
          </a:p>
        </p:txBody>
      </p:sp>
      <p:sp>
        <p:nvSpPr>
          <p:cNvPr id="17458" name="TextBox 17457"/>
          <p:cNvSpPr txBox="1"/>
          <p:nvPr/>
        </p:nvSpPr>
        <p:spPr>
          <a:xfrm>
            <a:off x="6172200" y="3383280"/>
            <a:ext cx="5623560" cy="29260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marL="146304" indent="-128016">
              <a:spcAft>
                <a:spcPts val="400"/>
              </a:spcAft>
              <a:buChar char="•"/>
            </a:pPr>
            <a:r>
              <a:rPr sz="1050" b="1">
                <a:solidFill>
                  <a:srgbClr val="222833"/>
                </a:solidFill>
                <a:latin typeface="Calibri"/>
              </a:rPr>
              <a:t>Text PII → pixels: </a:t>
            </a:r>
            <a:r>
              <a:rPr sz="1050" b="0">
                <a:solidFill>
                  <a:srgbClr val="222833"/>
                </a:solidFill>
                <a:latin typeface="Calibri"/>
              </a:rPr>
              <a:t>visible text grouped per block, scanned by checksum rules + NER + known Vault values; each span → Range.getClientRects() → black box labelled with its token.</a:t>
            </a:r>
          </a:p>
          <a:p>
            <a:pPr marL="146304" indent="-128016">
              <a:spcAft>
                <a:spcPts val="400"/>
              </a:spcAft>
              <a:buChar char="•"/>
            </a:pPr>
            <a:r>
              <a:rPr sz="1050" b="1">
                <a:solidFill>
                  <a:srgbClr val="222833"/>
                </a:solidFill>
                <a:latin typeface="Calibri"/>
              </a:rPr>
              <a:t>Vision: </a:t>
            </a:r>
            <a:r>
              <a:rPr sz="1050" b="0">
                <a:solidFill>
                  <a:srgbClr val="222833"/>
                </a:solidFill>
                <a:latin typeface="Calibri"/>
              </a:rPr>
              <a:t>all on-page images packed into one 640² YuNet mosaic (avatars become detectable); one batched MobileCLIP pass for screen state + image regions (ID card, signature, QR, face photo), fused with DOM cues.</a:t>
            </a:r>
          </a:p>
          <a:p>
            <a:pPr marL="146304" indent="-128016">
              <a:spcAft>
                <a:spcPts val="400"/>
              </a:spcAft>
              <a:buChar char="•"/>
            </a:pPr>
            <a:r>
              <a:rPr sz="1050" b="1">
                <a:solidFill>
                  <a:srgbClr val="222833"/>
                </a:solidFill>
                <a:latin typeface="Calibri"/>
              </a:rPr>
              <a:t>Adaptive compute: </a:t>
            </a:r>
            <a:r>
              <a:rPr sz="1050" b="0">
                <a:solidFill>
                  <a:srgbClr val="222833"/>
                </a:solidFill>
                <a:latin typeface="Calibri"/>
              </a:rPr>
              <a:t>dHash frame cache, per-page screen cache, NER/region caches, eco / balanced / max modes, models warmed while the user types.</a:t>
            </a:r>
          </a:p>
          <a:p>
            <a:pPr marL="146304" indent="-128016">
              <a:spcAft>
                <a:spcPts val="400"/>
              </a:spcAft>
              <a:buChar char="•"/>
            </a:pPr>
            <a:r>
              <a:rPr sz="1050" b="1">
                <a:solidFill>
                  <a:srgbClr val="222833"/>
                </a:solidFill>
                <a:latin typeface="Calibri"/>
              </a:rPr>
              <a:t>Grounding: </a:t>
            </a:r>
            <a:r>
              <a:rPr sz="1050" b="0">
                <a:solidFill>
                  <a:srgbClr val="222833"/>
                </a:solidFill>
                <a:latin typeface="Calibri"/>
              </a:rPr>
              <a:t>numbered Set-of-Marks on interactive elements; actions reference node ids; tokens rehydrated only at execution.</a:t>
            </a:r>
          </a:p>
          <a:p>
            <a:pPr marL="146304" indent="-128016">
              <a:spcAft>
                <a:spcPts val="400"/>
              </a:spcAft>
              <a:buChar char="•"/>
            </a:pPr>
            <a:r>
              <a:rPr sz="1050" b="1">
                <a:solidFill>
                  <a:srgbClr val="222833"/>
                </a:solidFill>
                <a:latin typeface="Calibri"/>
              </a:rPr>
              <a:t>Defence in depth: </a:t>
            </a:r>
            <a:r>
              <a:rPr sz="1050" b="0">
                <a:solidFill>
                  <a:srgbClr val="222833"/>
                </a:solidFill>
                <a:latin typeface="Calibri"/>
              </a:rPr>
              <a:t>sensitive-field values never serialised; egress gate; server-side re-check (Aadhaar/Verhoeff, PAN, UPI, Luhn); audit log.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Aavaran · SIH 2026 · PS 26171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&lt;Team name&gt;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411480" y="1143000"/>
            <a:ext cx="1133856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B2A4E"/>
                </a:solidFill>
                <a:latin typeface="Calibri"/>
              </a:rPr>
              <a:t>Working prototype, measured against all five evaluation criteria (reproducible scripts in eval/):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411480" y="1536192"/>
            <a:ext cx="1760219" cy="132588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TextBox 17411"/>
          <p:cNvSpPr txBox="1"/>
          <p:nvPr/>
        </p:nvSpPr>
        <p:spPr>
          <a:xfrm>
            <a:off x="411480" y="1572768"/>
            <a:ext cx="1760219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2600" b="1" i="0">
                <a:solidFill>
                  <a:srgbClr val="1B2A4E"/>
                </a:solidFill>
                <a:latin typeface="Cambria"/>
              </a:rPr>
              <a:t>54.0%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457200" y="2157984"/>
            <a:ext cx="1668779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950" b="0" i="0">
                <a:solidFill>
                  <a:srgbClr val="5B6472"/>
                </a:solidFill>
                <a:latin typeface="Calibri"/>
              </a:rPr>
              <a:t>screen understanding on</a:t>
            </a:r>
          </a:p>
          <a:p>
            <a:pPr algn="ctr"/>
            <a:r>
              <a:rPr sz="950" b="0" i="0">
                <a:solidFill>
                  <a:srgbClr val="5B6472"/>
                </a:solidFill>
                <a:latin typeface="Calibri"/>
              </a:rPr>
              <a:t>unseen websites (? sites)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2336292" y="1536192"/>
            <a:ext cx="1760219" cy="132588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5" name="TextBox 17414"/>
          <p:cNvSpPr txBox="1"/>
          <p:nvPr/>
        </p:nvSpPr>
        <p:spPr>
          <a:xfrm>
            <a:off x="2336292" y="1572768"/>
            <a:ext cx="1760219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2600" b="1" i="0">
                <a:solidFill>
                  <a:srgbClr val="1B2A4E"/>
                </a:solidFill>
                <a:latin typeface="Cambria"/>
              </a:rPr>
              <a:t>0.97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2382012" y="2157984"/>
            <a:ext cx="1668779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950" b="0" i="0">
                <a:solidFill>
                  <a:srgbClr val="5B6472"/>
                </a:solidFill>
                <a:latin typeface="Calibri"/>
              </a:rPr>
              <a:t>PII F1, Indian set</a:t>
            </a:r>
          </a:p>
          <a:p>
            <a:pPr algn="ctr"/>
            <a:r>
              <a:rPr sz="950" b="0" i="0">
                <a:solidFill>
                  <a:srgbClr val="5B6472"/>
                </a:solidFill>
                <a:latin typeface="Calibri"/>
              </a:rPr>
              <a:t>(R 0.96 · P 0.98)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4261104" y="1536192"/>
            <a:ext cx="1760219" cy="132588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8" name="TextBox 17417"/>
          <p:cNvSpPr txBox="1"/>
          <p:nvPr/>
        </p:nvSpPr>
        <p:spPr>
          <a:xfrm>
            <a:off x="4261104" y="1572768"/>
            <a:ext cx="1760219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2600" b="1" i="0">
                <a:solidFill>
                  <a:srgbClr val="1B2A4E"/>
                </a:solidFill>
                <a:latin typeface="Cambria"/>
              </a:rPr>
              <a:t>0.91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4306824" y="2157984"/>
            <a:ext cx="1668779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950" b="0" i="0">
                <a:solidFill>
                  <a:srgbClr val="5B6472"/>
                </a:solidFill>
                <a:latin typeface="Calibri"/>
              </a:rPr>
              <a:t>pixel redaction precision</a:t>
            </a:r>
          </a:p>
          <a:p>
            <a:pPr algn="ctr"/>
            <a:r>
              <a:rPr sz="950" b="0" i="0">
                <a:solidFill>
                  <a:srgbClr val="5B6472"/>
                </a:solidFill>
                <a:latin typeface="Calibri"/>
              </a:rPr>
              <a:t>46/46 sensitive objects covered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6185916" y="1536192"/>
            <a:ext cx="1760219" cy="132588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1" name="TextBox 17420"/>
          <p:cNvSpPr txBox="1"/>
          <p:nvPr/>
        </p:nvSpPr>
        <p:spPr>
          <a:xfrm>
            <a:off x="6185916" y="1572768"/>
            <a:ext cx="1760219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2600" b="1" i="0">
                <a:solidFill>
                  <a:srgbClr val="1B2A4E"/>
                </a:solidFill>
                <a:latin typeface="Cambria"/>
              </a:rPr>
              <a:t>37–173 MB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6231636" y="2157984"/>
            <a:ext cx="1668779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950" b="0" i="0">
                <a:solidFill>
                  <a:srgbClr val="5B6472"/>
                </a:solidFill>
                <a:latin typeface="Calibri"/>
              </a:rPr>
              <a:t>total on-device engine</a:t>
            </a:r>
          </a:p>
          <a:p>
            <a:pPr algn="ctr"/>
            <a:r>
              <a:rPr sz="950" b="0" i="0">
                <a:solidFill>
                  <a:srgbClr val="5B6472"/>
                </a:solidFill>
                <a:latin typeface="Calibri"/>
              </a:rPr>
              <a:t>memory (eco–balanced)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8110727" y="1536192"/>
            <a:ext cx="1760219" cy="132588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4" name="TextBox 17423"/>
          <p:cNvSpPr txBox="1"/>
          <p:nvPr/>
        </p:nvSpPr>
        <p:spPr>
          <a:xfrm>
            <a:off x="8110727" y="1572768"/>
            <a:ext cx="1760219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2600" b="1" i="0">
                <a:solidFill>
                  <a:srgbClr val="1B2A4E"/>
                </a:solidFill>
                <a:latin typeface="Cambria"/>
              </a:rPr>
              <a:t>0.38 s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8156448" y="2157984"/>
            <a:ext cx="1668779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950" b="0" i="0">
                <a:solidFill>
                  <a:srgbClr val="5B6472"/>
                </a:solidFill>
                <a:latin typeface="Calibri"/>
              </a:rPr>
              <a:t>on-device perception per</a:t>
            </a:r>
          </a:p>
          <a:p>
            <a:pPr algn="ctr"/>
            <a:r>
              <a:rPr sz="950" b="0" i="0">
                <a:solidFill>
                  <a:srgbClr val="5B6472"/>
                </a:solidFill>
                <a:latin typeface="Calibri"/>
              </a:rPr>
              <a:t>step (median, laptop CPU)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10035540" y="1536192"/>
            <a:ext cx="1760219" cy="132588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7" name="TextBox 17426"/>
          <p:cNvSpPr txBox="1"/>
          <p:nvPr/>
        </p:nvSpPr>
        <p:spPr>
          <a:xfrm>
            <a:off x="10035540" y="1572768"/>
            <a:ext cx="1760219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2600" b="1" i="0">
                <a:solidFill>
                  <a:srgbClr val="138808"/>
                </a:solidFill>
                <a:latin typeface="Cambria"/>
              </a:rPr>
              <a:t>0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10081260" y="2157984"/>
            <a:ext cx="1668779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950" b="0" i="0">
                <a:solidFill>
                  <a:srgbClr val="5B6472"/>
                </a:solidFill>
                <a:latin typeface="Calibri"/>
              </a:rPr>
              <a:t>leaks in 5 end-to-end</a:t>
            </a:r>
          </a:p>
          <a:p>
            <a:pPr algn="ctr"/>
            <a:r>
              <a:rPr sz="950" b="0" i="0">
                <a:solidFill>
                  <a:srgbClr val="5B6472"/>
                </a:solidFill>
                <a:latin typeface="Calibri"/>
              </a:rPr>
              <a:t>tasks (server audit log)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411480" y="3063240"/>
            <a:ext cx="109728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400" b="1" i="0">
                <a:solidFill>
                  <a:srgbClr val="1B2A4E"/>
                </a:solidFill>
                <a:latin typeface="Cambria"/>
              </a:rPr>
              <a:t>Challenges, risks and how we handle them</a:t>
            </a:r>
          </a:p>
        </p:txBody>
      </p:sp>
      <p:graphicFrame>
        <p:nvGraphicFramePr>
          <p:cNvPr id="17430" name="Table 17429"/>
          <p:cNvGraphicFramePr>
            <a:graphicFrameLocks noGrp="1"/>
          </p:cNvGraphicFramePr>
          <p:nvPr/>
        </p:nvGraphicFramePr>
        <p:xfrm>
          <a:off x="411480" y="3383280"/>
          <a:ext cx="1138428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03120"/>
                <a:gridCol w="7086600"/>
              </a:tblGrid>
              <a:tr h="47244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Challenge</a:t>
                      </a:r>
                    </a:p>
                  </a:txBody>
                  <a:tcPr>
                    <a:solidFill>
                      <a:srgbClr val="1B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>
                    <a:solidFill>
                      <a:srgbClr val="1B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Strategy (implemented)</a:t>
                      </a:r>
                    </a:p>
                  </a:txBody>
                  <a:tcPr>
                    <a:solidFill>
                      <a:srgbClr val="1B2A4E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222833"/>
                          </a:solidFill>
                          <a:latin typeface="Calibri"/>
                        </a:rPr>
                        <a:t>Low-end client devices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833"/>
                          </a:solidFill>
                          <a:latin typeface="Calibri"/>
                        </a:rPr>
                        <a:t>Models too heavy / slow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833"/>
                          </a:solidFill>
                          <a:latin typeface="Calibri"/>
                        </a:rPr>
                        <a:t>52 MB total; measured precision choice (FP32 YuNet 2.6× faster than INT8 in WASM, see docs/model-contract.md); eco mode 37 MB; caches make an unchanged frame ~0.14 s; WebGPU when present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222833"/>
                          </a:solidFill>
                          <a:latin typeface="Calibri"/>
                        </a:rPr>
                        <a:t>Missed PII = privacy leak</a:t>
                      </a:r>
                    </a:p>
                  </a:txBody>
                  <a:tcPr marT="27432" marB="27432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833"/>
                          </a:solidFill>
                          <a:latin typeface="Calibri"/>
                        </a:rPr>
                        <a:t>Rules or NER miss a value</a:t>
                      </a:r>
                    </a:p>
                  </a:txBody>
                  <a:tcPr marT="27432" marB="27432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833"/>
                          </a:solidFill>
                          <a:latin typeface="Calibri"/>
                        </a:rPr>
                        <a:t>Four layers: checksum rules + NER + Vault-guided matching + sensitive-field boxing; fail-closed egress gate; server re-check; audit log</a:t>
                      </a:r>
                    </a:p>
                  </a:txBody>
                  <a:tcPr marT="27432" marB="27432">
                    <a:solidFill>
                      <a:srgbClr val="EEF2F8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222833"/>
                          </a:solidFill>
                          <a:latin typeface="Calibri"/>
                        </a:rPr>
                        <a:t>Over-redaction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833"/>
                          </a:solidFill>
                          <a:latin typeface="Calibri"/>
                        </a:rPr>
                        <a:t>Agent loses context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833"/>
                          </a:solidFill>
                          <a:latin typeface="Calibri"/>
                        </a:rPr>
                        <a:t>Typed, consistent tokens keep structure; checksum validation keeps order ids, PNRs, prices, IFSC readable (1/120 false alarms on hard negatives)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222833"/>
                          </a:solidFill>
                          <a:latin typeface="Calibri"/>
                        </a:rPr>
                        <a:t>Unfamiliar UIs</a:t>
                      </a:r>
                    </a:p>
                  </a:txBody>
                  <a:tcPr marT="27432" marB="27432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833"/>
                          </a:solidFill>
                          <a:latin typeface="Calibri"/>
                        </a:rPr>
                        <a:t>ViT not trained on screens</a:t>
                      </a:r>
                    </a:p>
                  </a:txBody>
                  <a:tcPr marT="27432" marB="27432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833"/>
                          </a:solidFill>
                          <a:latin typeface="Calibri"/>
                        </a:rPr>
                        <a:t>Fuse pixels with DOM structure (+14.9 pts on unseen sites); element grounding via DOM + Set-of-Marks is exact</a:t>
                      </a:r>
                    </a:p>
                  </a:txBody>
                  <a:tcPr marT="27432" marB="27432">
                    <a:solidFill>
                      <a:srgbClr val="EEF2F8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222833"/>
                          </a:solidFill>
                          <a:latin typeface="Calibri"/>
                        </a:rPr>
                        <a:t>Server model availability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833"/>
                          </a:solidFill>
                          <a:latin typeface="Calibri"/>
                        </a:rPr>
                        <a:t>Cloud dependence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833"/>
                          </a:solidFill>
                          <a:latin typeface="Calibri"/>
                        </a:rPr>
                        <a:t>Any OpenAI-compatible open-weights endpoint (vLLM / Ollama offline); stateless server; mock mode for demos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Aavaran · SIH 2026 · PS 26171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&lt;Team name&gt;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411480" y="1188720"/>
            <a:ext cx="585216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400" b="1" i="0">
                <a:solidFill>
                  <a:srgbClr val="1B2A4E"/>
                </a:solidFill>
                <a:latin typeface="Cambria"/>
              </a:rPr>
              <a:t>Who benefits</a:t>
            </a:r>
          </a:p>
        </p:txBody>
      </p:sp>
      <p:sp>
        <p:nvSpPr>
          <p:cNvPr id="17411" name="Oval 17410"/>
          <p:cNvSpPr/>
          <p:nvPr/>
        </p:nvSpPr>
        <p:spPr>
          <a:xfrm>
            <a:off x="411480" y="1581912"/>
            <a:ext cx="329184" cy="329184"/>
          </a:xfrm>
          <a:prstGeom prst="ellipse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841248" y="1536192"/>
            <a:ext cx="5394960" cy="6583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1B2A4E"/>
                </a:solidFill>
                <a:latin typeface="Calibri"/>
              </a:rPr>
              <a:t>Citizens — </a:t>
            </a:r>
            <a:r>
              <a:rPr sz="1050" b="0" i="0">
                <a:solidFill>
                  <a:srgbClr val="222833"/>
                </a:solidFill>
                <a:latin typeface="Calibri"/>
              </a:rPr>
              <a:t>use AI assistants on DigiLocker, UPI, bank, e-KYC and government portals without handing Aadhaar, OTPs or faces to a server</a:t>
            </a:r>
          </a:p>
        </p:txBody>
      </p:sp>
      <p:sp>
        <p:nvSpPr>
          <p:cNvPr id="17413" name="Oval 17412"/>
          <p:cNvSpPr/>
          <p:nvPr/>
        </p:nvSpPr>
        <p:spPr>
          <a:xfrm>
            <a:off x="411480" y="2313432"/>
            <a:ext cx="329184" cy="329184"/>
          </a:xfrm>
          <a:prstGeom prst="ellipse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841248" y="2267712"/>
            <a:ext cx="5394960" cy="6583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1B2A4E"/>
                </a:solidFill>
                <a:latin typeface="Calibri"/>
              </a:rPr>
              <a:t>Government &amp; ISRO / DoS — </a:t>
            </a:r>
            <a:r>
              <a:rPr sz="1050" b="0" i="0">
                <a:solidFill>
                  <a:srgbClr val="222833"/>
                </a:solidFill>
                <a:latin typeface="Calibri"/>
              </a:rPr>
              <a:t>automate internal web workflows on sensitive screens; the server can run on-premise with open weights</a:t>
            </a:r>
          </a:p>
        </p:txBody>
      </p:sp>
      <p:sp>
        <p:nvSpPr>
          <p:cNvPr id="17415" name="Oval 17414"/>
          <p:cNvSpPr/>
          <p:nvPr/>
        </p:nvSpPr>
        <p:spPr>
          <a:xfrm>
            <a:off x="411480" y="3044952"/>
            <a:ext cx="329184" cy="329184"/>
          </a:xfrm>
          <a:prstGeom prst="ellipse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841248" y="2999232"/>
            <a:ext cx="5394960" cy="6583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1B2A4E"/>
                </a:solidFill>
                <a:latin typeface="Calibri"/>
              </a:rPr>
              <a:t>Enterprises &amp; startups — </a:t>
            </a:r>
            <a:r>
              <a:rPr sz="1050" b="0" i="0">
                <a:solidFill>
                  <a:srgbClr val="222833"/>
                </a:solidFill>
                <a:latin typeface="Calibri"/>
              </a:rPr>
              <a:t>build agents that comply with the DPDP Act 2023 by design (data minimisation, purpose limitation, auditability)</a:t>
            </a:r>
          </a:p>
        </p:txBody>
      </p:sp>
      <p:sp>
        <p:nvSpPr>
          <p:cNvPr id="17417" name="Oval 17416"/>
          <p:cNvSpPr/>
          <p:nvPr/>
        </p:nvSpPr>
        <p:spPr>
          <a:xfrm>
            <a:off x="411480" y="3776472"/>
            <a:ext cx="329184" cy="329184"/>
          </a:xfrm>
          <a:prstGeom prst="ellipse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841248" y="3730752"/>
            <a:ext cx="5394960" cy="6583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1B2A4E"/>
                </a:solidFill>
                <a:latin typeface="Calibri"/>
              </a:rPr>
              <a:t>Low-end &amp; rural devices — </a:t>
            </a:r>
            <a:r>
              <a:rPr sz="1050" b="0" i="0">
                <a:solidFill>
                  <a:srgbClr val="222833"/>
                </a:solidFill>
                <a:latin typeface="Calibri"/>
              </a:rPr>
              <a:t>runs on a 4-core laptop CPU with no GPU; small payloads (~50 KB image per step) suit slow networks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411480" y="4526280"/>
            <a:ext cx="585216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400" b="1" i="0">
                <a:solidFill>
                  <a:srgbClr val="1B2A4E"/>
                </a:solidFill>
                <a:latin typeface="Cambria"/>
              </a:rPr>
              <a:t>Benefits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411480" y="4828032"/>
            <a:ext cx="5852160" cy="14630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marL="146304" indent="-128016">
              <a:spcAft>
                <a:spcPts val="300"/>
              </a:spcAft>
              <a:buChar char="•"/>
            </a:pPr>
            <a:r>
              <a:rPr sz="1050" b="1">
                <a:solidFill>
                  <a:srgbClr val="222833"/>
                </a:solidFill>
                <a:latin typeface="Calibri"/>
              </a:rPr>
              <a:t>Social: </a:t>
            </a:r>
            <a:r>
              <a:rPr sz="1050" b="0">
                <a:solidFill>
                  <a:srgbClr val="222833"/>
                </a:solidFill>
                <a:latin typeface="Calibri"/>
              </a:rPr>
              <a:t>trust in AI assistance; privacy that users can inspect (Privacy X-ray).</a:t>
            </a:r>
          </a:p>
          <a:p>
            <a:pPr marL="146304" indent="-128016">
              <a:spcAft>
                <a:spcPts val="300"/>
              </a:spcAft>
              <a:buChar char="•"/>
            </a:pPr>
            <a:r>
              <a:rPr sz="1050" b="1">
                <a:solidFill>
                  <a:srgbClr val="222833"/>
                </a:solidFill>
                <a:latin typeface="Calibri"/>
              </a:rPr>
              <a:t>Economic: </a:t>
            </a:r>
            <a:r>
              <a:rPr sz="1050" b="0">
                <a:solidFill>
                  <a:srgbClr val="222833"/>
                </a:solidFill>
                <a:latin typeface="Calibri"/>
              </a:rPr>
              <a:t>open-weights models, no per-token vendor lock-in; smaller prompts (tokens, one ~50 KB JPEG).</a:t>
            </a:r>
          </a:p>
          <a:p>
            <a:pPr marL="146304" indent="-128016">
              <a:spcAft>
                <a:spcPts val="300"/>
              </a:spcAft>
              <a:buChar char="•"/>
            </a:pPr>
            <a:r>
              <a:rPr sz="1050" b="1">
                <a:solidFill>
                  <a:srgbClr val="222833"/>
                </a:solidFill>
                <a:latin typeface="Calibri"/>
              </a:rPr>
              <a:t>Strategic: </a:t>
            </a:r>
            <a:r>
              <a:rPr sz="1050" b="0">
                <a:solidFill>
                  <a:srgbClr val="222833"/>
                </a:solidFill>
                <a:latin typeface="Calibri"/>
              </a:rPr>
              <a:t>sovereign, offline-deployable stack, aligned with Atmanirbhar Bharat and DPDP.</a:t>
            </a:r>
          </a:p>
          <a:p>
            <a:pPr marL="146304" indent="-128016">
              <a:spcAft>
                <a:spcPts val="300"/>
              </a:spcAft>
              <a:buChar char="•"/>
            </a:pPr>
            <a:r>
              <a:rPr sz="1050" b="1">
                <a:solidFill>
                  <a:srgbClr val="222833"/>
                </a:solidFill>
                <a:latin typeface="Calibri"/>
              </a:rPr>
              <a:t>Environmental: </a:t>
            </a:r>
            <a:r>
              <a:rPr sz="1050" b="0">
                <a:solidFill>
                  <a:srgbClr val="222833"/>
                </a:solidFill>
                <a:latin typeface="Calibri"/>
              </a:rPr>
              <a:t>caches skip repeated inference; less data moved per step.</a:t>
            </a:r>
          </a:p>
        </p:txBody>
      </p:sp>
      <p:graphicFrame>
        <p:nvGraphicFramePr>
          <p:cNvPr id="17421" name="Chart 17420"/>
          <p:cNvGraphicFramePr>
            <a:graphicFrameLocks noGrp="1"/>
          </p:cNvGraphicFramePr>
          <p:nvPr/>
        </p:nvGraphicFramePr>
        <p:xfrm>
          <a:off x="6492240" y="1188720"/>
          <a:ext cx="5303520" cy="169164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7422" name="Chart 17421"/>
          <p:cNvGraphicFramePr>
            <a:graphicFrameLocks noGrp="1"/>
          </p:cNvGraphicFramePr>
          <p:nvPr/>
        </p:nvGraphicFramePr>
        <p:xfrm>
          <a:off x="6492240" y="2971800"/>
          <a:ext cx="5303520" cy="169164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graphicFrame>
        <p:nvGraphicFramePr>
          <p:cNvPr id="17423" name="Chart 17422"/>
          <p:cNvGraphicFramePr>
            <a:graphicFrameLocks noGrp="1"/>
          </p:cNvGraphicFramePr>
          <p:nvPr/>
        </p:nvGraphicFramePr>
        <p:xfrm>
          <a:off x="6492240" y="4754880"/>
          <a:ext cx="5303520" cy="150876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Aavaran · SIH 2026 · PS 26171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&lt;Team name&gt;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411480" y="1188720"/>
            <a:ext cx="694944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400" b="1" i="0">
                <a:solidFill>
                  <a:srgbClr val="1B2A4E"/>
                </a:solidFill>
                <a:latin typeface="Cambria"/>
              </a:rPr>
              <a:t>Research &amp; models</a:t>
            </a:r>
          </a:p>
        </p:txBody>
      </p:sp>
      <p:sp>
        <p:nvSpPr>
          <p:cNvPr id="17411" name="TextBox 17410"/>
          <p:cNvSpPr txBox="1"/>
          <p:nvPr/>
        </p:nvSpPr>
        <p:spPr>
          <a:xfrm>
            <a:off x="411480" y="1554480"/>
            <a:ext cx="7040880" cy="47548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marL="146304" indent="-128016">
              <a:spcAft>
                <a:spcPts val="900"/>
              </a:spcAft>
              <a:buChar char="•"/>
            </a:pPr>
            <a:r>
              <a:rPr sz="1250" b="0">
                <a:solidFill>
                  <a:srgbClr val="222833"/>
                </a:solidFill>
                <a:latin typeface="Calibri"/>
              </a:rPr>
              <a:t>Vasu et al., MobileCLIP: Fast Image-Text Models through Multi-Modal Reinforced Training, CVPR 2024 — arxiv.org/abs/2311.17049</a:t>
            </a:r>
          </a:p>
          <a:p>
            <a:pPr marL="146304" indent="-128016">
              <a:spcAft>
                <a:spcPts val="900"/>
              </a:spcAft>
              <a:buChar char="•"/>
            </a:pPr>
            <a:r>
              <a:rPr sz="1250" b="0">
                <a:solidFill>
                  <a:srgbClr val="222833"/>
                </a:solidFill>
                <a:latin typeface="Calibri"/>
              </a:rPr>
              <a:t>Wu et al., YuNet: A Tiny Millisecond-level Face Detector, Machine Intelligence Research 2023 — github.com/opencv/opencv_zoo</a:t>
            </a:r>
          </a:p>
          <a:p>
            <a:pPr marL="146304" indent="-128016">
              <a:spcAft>
                <a:spcPts val="900"/>
              </a:spcAft>
              <a:buChar char="•"/>
            </a:pPr>
            <a:r>
              <a:rPr sz="1250" b="0">
                <a:solidFill>
                  <a:srgbClr val="222833"/>
                </a:solidFill>
                <a:latin typeface="Calibri"/>
              </a:rPr>
              <a:t>Yang et al., Set-of-Mark Prompting Unleashes Extraordinary Visual Grounding in GPT-4V, 2023 — arxiv.org/abs/2310.11441</a:t>
            </a:r>
          </a:p>
          <a:p>
            <a:pPr marL="146304" indent="-128016">
              <a:spcAft>
                <a:spcPts val="900"/>
              </a:spcAft>
              <a:buChar char="•"/>
            </a:pPr>
            <a:r>
              <a:rPr sz="1250" b="0">
                <a:solidFill>
                  <a:srgbClr val="222833"/>
                </a:solidFill>
                <a:latin typeface="Calibri"/>
              </a:rPr>
              <a:t>Bai et al., Qwen2.5-VL Technical Report, 2025 — arxiv.org/abs/2502.13923 (open-weights server VLM)</a:t>
            </a:r>
          </a:p>
          <a:p>
            <a:pPr marL="146304" indent="-128016">
              <a:spcAft>
                <a:spcPts val="900"/>
              </a:spcAft>
              <a:buChar char="•"/>
            </a:pPr>
            <a:r>
              <a:rPr sz="1250" b="0">
                <a:solidFill>
                  <a:srgbClr val="222833"/>
                </a:solidFill>
                <a:latin typeface="Calibri"/>
              </a:rPr>
              <a:t>Radford et al., Learning Transferable Visual Models from Natural Language Supervision (CLIP), ICML 2021</a:t>
            </a:r>
          </a:p>
          <a:p>
            <a:pPr marL="146304" indent="-128016">
              <a:spcAft>
                <a:spcPts val="900"/>
              </a:spcAft>
              <a:buChar char="•"/>
            </a:pPr>
            <a:r>
              <a:rPr sz="1250" b="0">
                <a:solidFill>
                  <a:srgbClr val="222833"/>
                </a:solidFill>
                <a:latin typeface="Calibri"/>
              </a:rPr>
              <a:t>ONNX Runtime Web (WebGPU / WASM) — onnxruntime.ai · Transformers.js — huggingface.co/docs/transformers.js</a:t>
            </a:r>
          </a:p>
          <a:p>
            <a:pPr marL="146304" indent="-128016">
              <a:spcAft>
                <a:spcPts val="900"/>
              </a:spcAft>
              <a:buChar char="•"/>
            </a:pPr>
            <a:r>
              <a:rPr sz="1250" b="0">
                <a:solidFill>
                  <a:srgbClr val="222833"/>
                </a:solidFill>
                <a:latin typeface="Calibri"/>
              </a:rPr>
              <a:t>BERT-small PII detection (ONNX) — huggingface.co/onnx-community/bert-small-pii-detection-ONNX</a:t>
            </a:r>
          </a:p>
          <a:p>
            <a:pPr marL="146304" indent="-128016">
              <a:spcAft>
                <a:spcPts val="900"/>
              </a:spcAft>
              <a:buChar char="•"/>
            </a:pPr>
            <a:r>
              <a:rPr sz="1250" b="0">
                <a:solidFill>
                  <a:srgbClr val="222833"/>
                </a:solidFill>
                <a:latin typeface="Calibri"/>
              </a:rPr>
              <a:t>Datasets: WIDER FACE (Yang et al., CVPR 2016); ai4privacy/pii-masking-200k</a:t>
            </a:r>
          </a:p>
          <a:p>
            <a:pPr marL="146304" indent="-128016">
              <a:spcAft>
                <a:spcPts val="900"/>
              </a:spcAft>
              <a:buChar char="•"/>
            </a:pPr>
            <a:r>
              <a:rPr sz="1250" b="0">
                <a:solidFill>
                  <a:srgbClr val="222833"/>
                </a:solidFill>
                <a:latin typeface="Calibri"/>
              </a:rPr>
              <a:t>Digital Personal Data Protection Act, 2023 (MeitY); UIDAI Aadhaar number checksum (Verhoeff)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7726679" y="1234440"/>
            <a:ext cx="4069080" cy="393192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3" name="TextBox 17412"/>
          <p:cNvSpPr txBox="1"/>
          <p:nvPr/>
        </p:nvSpPr>
        <p:spPr>
          <a:xfrm>
            <a:off x="7909560" y="1371600"/>
            <a:ext cx="3749039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400" b="1" i="0">
                <a:solidFill>
                  <a:srgbClr val="1B2A4E"/>
                </a:solidFill>
                <a:latin typeface="Cambria"/>
              </a:rPr>
              <a:t>Prototype &amp; evidence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7909560" y="1719072"/>
            <a:ext cx="3749039" cy="44805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marL="146304" indent="-128016">
              <a:spcAft>
                <a:spcPts val="900"/>
              </a:spcAft>
              <a:buChar char="•"/>
            </a:pPr>
            <a:r>
              <a:rPr sz="1200" b="1">
                <a:solidFill>
                  <a:srgbClr val="222833"/>
                </a:solidFill>
                <a:latin typeface="Calibri"/>
              </a:rPr>
              <a:t>Code: </a:t>
            </a:r>
            <a:r>
              <a:rPr sz="1200" b="0">
                <a:solidFill>
                  <a:srgbClr val="222833"/>
                </a:solidFill>
                <a:latin typeface="Calibri"/>
              </a:rPr>
              <a:t>github.com/Malaybhai11/SIH2026-SIH26171</a:t>
            </a:r>
          </a:p>
          <a:p>
            <a:pPr marL="146304" indent="-128016">
              <a:spcAft>
                <a:spcPts val="900"/>
              </a:spcAft>
              <a:buChar char="•"/>
            </a:pPr>
            <a:r>
              <a:rPr sz="1200" b="1">
                <a:solidFill>
                  <a:srgbClr val="222833"/>
                </a:solidFill>
                <a:latin typeface="Calibri"/>
              </a:rPr>
              <a:t>Extension </a:t>
            </a:r>
            <a:r>
              <a:rPr sz="1200" b="0">
                <a:solidFill>
                  <a:srgbClr val="222833"/>
                </a:solidFill>
                <a:latin typeface="Calibri"/>
              </a:rPr>
              <a:t>for Chrome/Edge/Brave (dist/) and Firefox (dist-firefox/)</a:t>
            </a:r>
          </a:p>
          <a:p>
            <a:pPr marL="146304" indent="-128016">
              <a:spcAft>
                <a:spcPts val="900"/>
              </a:spcAft>
              <a:buChar char="•"/>
            </a:pPr>
            <a:r>
              <a:rPr sz="1200" b="1">
                <a:solidFill>
                  <a:srgbClr val="222833"/>
                </a:solidFill>
                <a:latin typeface="Calibri"/>
              </a:rPr>
              <a:t>Demo sites </a:t>
            </a:r>
            <a:r>
              <a:rPr sz="1200" b="0">
                <a:solidFill>
                  <a:srgbClr val="222833"/>
                </a:solidFill>
                <a:latin typeface="Calibri"/>
              </a:rPr>
              <a:t>(synthetic data, AI-generated faces): bank KYC, webmail OTP, social feed, checkout, ISRO outreach registration</a:t>
            </a:r>
          </a:p>
          <a:p>
            <a:pPr marL="146304" indent="-128016">
              <a:spcAft>
                <a:spcPts val="900"/>
              </a:spcAft>
              <a:buChar char="•"/>
            </a:pPr>
            <a:r>
              <a:rPr sz="1200" b="1">
                <a:solidFill>
                  <a:srgbClr val="222833"/>
                </a:solidFill>
                <a:latin typeface="Calibri"/>
              </a:rPr>
              <a:t>Scorecard: </a:t>
            </a:r>
            <a:r>
              <a:rPr sz="1200" b="0">
                <a:solidFill>
                  <a:srgbClr val="222833"/>
                </a:solidFill>
                <a:latin typeface="Calibri"/>
              </a:rPr>
              <a:t>eval/results/SUMMARY.md — every number reproducible with one npm script</a:t>
            </a:r>
          </a:p>
          <a:p>
            <a:pPr marL="146304" indent="-128016">
              <a:spcAft>
                <a:spcPts val="900"/>
              </a:spcAft>
              <a:buChar char="•"/>
            </a:pPr>
            <a:r>
              <a:rPr sz="1200" b="1">
                <a:solidFill>
                  <a:srgbClr val="222833"/>
                </a:solidFill>
                <a:latin typeface="Calibri"/>
              </a:rPr>
              <a:t>End-to-end tasks: </a:t>
            </a:r>
            <a:r>
              <a:rPr sz="1200" b="0">
                <a:solidFill>
                  <a:srgbClr val="222833"/>
                </a:solidFill>
                <a:latin typeface="Calibri"/>
              </a:rPr>
              <a:t>checkout 7 s, inbox 6 s, kyc 22 s, register 17 s, social 6 s — all passed, 0 leaks</a:t>
            </a:r>
          </a:p>
          <a:p>
            <a:pPr marL="146304" indent="-128016">
              <a:spcAft>
                <a:spcPts val="900"/>
              </a:spcAft>
              <a:buChar char="•"/>
            </a:pPr>
            <a:r>
              <a:rPr sz="1200" b="1">
                <a:solidFill>
                  <a:srgbClr val="222833"/>
                </a:solidFill>
                <a:latin typeface="Calibri"/>
              </a:rPr>
              <a:t>Faces (WIDER val): </a:t>
            </a:r>
            <a:r>
              <a:rPr sz="1200" b="0">
                <a:solidFill>
                  <a:srgbClr val="222833"/>
                </a:solidFill>
                <a:latin typeface="Calibri"/>
              </a:rPr>
              <a:t>P 0.78 / R 0.73; ai4privacy PII F1 0.85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